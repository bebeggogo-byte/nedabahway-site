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제가 설명하는 시간이 아니라 여러분이 쓰는 시간입니다. 강사 발화 목표는 총 15분 이내. 워크지는 반드시 손으로 쓰게 할 것. 노트북을 열면 검색을 시작하고 작성이 멈춥니다.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손짓부터 시키고 그다음 한 사람씩 30초. 나온 단어를 화이트보드에 그대로 적고 절대 교정하지 않는다. 이 판서가 8번 슬라이드에서 다시 쓰인다.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게팀에게 마이크를 넘기고 강사는 질문 세 개만 던진다. 모범 사례로 치켜세우지 말 것 — "먼저 간 팀"으로만 소개한다. 난이도 별점을 "전국적 희귀도가 아니라 표선에서 서식지를 찾아다닐 때의 현장 체감 난이도"로 스스로 재정의한 점, 카드마다 관찰자의 말 한 줄이 있는 점을 짚어준다.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분기점. 빈 칸을 반드시 공개할 것 — 이것이 곶자왈팀·거문오름팀의 시작 문턱을 낮추는 장치다. 두 팀이 "우리는 아무것도 없다"고 하면: "없는 게 아니라 흩어져 있는 겁니다. 사진첩 여시죠."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양식을 A3로 확대 인쇄해 테이블 중앙에 고정해 둘 것. 오늘 활동의 기준점이다. 관찰자의 말 한 줄 칸(붉은색)은 절대 비우지 말라고 강조한다 — 전문 도감에는 없는, 시민과학 결과물에만 있는 칸이다.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4월부터 다섯 달이 지났고 남은 건 석 달. 조사를 다 하고 결과물을 만들면 12월에 데이터는 있는데 형태가 없다. 순서를 뒤집으면 남은 3개월에 무엇을 조사할지가 자동으로 정해진다. 게팀 자료도 지금은 슬라이드이므로, 게팀의 오늘 숙제는 판형을 정하는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구간 동안 강사는 침묵하고 순회만 한다. 막힌 사람에게만 질문 하나를 던지고 답은 주지 않는다. S0 막힘: "4월 이후 휴대폰으로 찍은 사진이 몇 장쯤 됩니까?" S2 막힘: "그래서 뭐가 궁금하셨던 겁니까, 처음에요." S5 막힘: "12월 며칠입니까? 거기서 한 달씩 거꾸로 세어 보시죠." 게팀이 일찍 끝나면 지도 초안을 그리게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답은 말로 받지 않고 워크지 맨 아래에 쓰게 한다. 그리고 팀별 다음 마일스톤 날짜를 확정하고 끝낸다. 식사 30분 동안 팀당 10분씩 순회 — 게팀은 판형 확정, 곶자왈팀은 기록의 물리적 위치 확인, 거문오름팀은 탐방 예약제 제약 확인(세계자연유산센터 전화, 화요일 탐방 불가).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051560"/>
            <a:ext cx="10872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FB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제주대학교 시민과학대학  JEJU CIS   ·   2026. 09. 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600200"/>
            <a:ext cx="108722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12월에 손에 들고 나갈 것을</a:t>
            </a:r>
            <a:endParaRPr lang="en-US" sz="4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정합니다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58368" y="3794760"/>
            <a:ext cx="1828800" cy="41148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4069080"/>
            <a:ext cx="10872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성과결과물, 어떻게 만들 것인가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4892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3팀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54132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 · 곶자왈 · 거문오름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538728" y="4892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90분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38728" y="54132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식사 30분 코칭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19088" y="4892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D-90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54132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12월 성과공유회까지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669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10분  열기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10872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하나로 시작합니다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00200"/>
            <a:ext cx="7406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12월 성과공유회 날,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여러분 책상 위에 무엇이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놓여 있으면 좋겠습니까?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366760" y="1600200"/>
            <a:ext cx="3154680" cy="2377440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41080" y="18470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말보다 손이 먼저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41080" y="2267712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크기를 손으로 그려 보이게 한다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사람씩 30초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나온 말을 그대로 적는다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교정하지 않는다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4251960"/>
            <a:ext cx="10872216" cy="1234440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" y="4526280"/>
            <a:ext cx="10232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"지금 나온 것들 다 적어 놨습니다. 90분 뒤에 이 중 하나가 사양서로 바뀌어 있을 겁니다."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669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– 18분  흔들기 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05840"/>
            <a:ext cx="10872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 간 팀의 자료를 펼칩니다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572768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표선 사계(四季) 사게(四蟹)  ·  제주 동부에서 직접 관찰한 게류 21종 현장 관찰 필드 가이드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2084832"/>
            <a:ext cx="2011680" cy="120700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2402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8895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종수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71216" y="2084832"/>
            <a:ext cx="2011680" cy="120700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71216" y="22402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2871216" y="28895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84064" y="2084832"/>
            <a:ext cx="2011680" cy="120700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84064" y="22402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5084064" y="28895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96912" y="2084832"/>
            <a:ext cx="2011680" cy="120700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96912" y="22402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7296912" y="28895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해양보호생물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09760" y="2084832"/>
            <a:ext cx="2011680" cy="120700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09760" y="22402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9509760" y="28895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지점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584448"/>
            <a:ext cx="10872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게팀에게 던질 질문은 이 세 개뿐입니다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" y="4023360"/>
            <a:ext cx="3474720" cy="1051560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2245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4206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처음에 무엇을 세기로 정하셨습니까?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52544" y="4023360"/>
            <a:ext cx="3474720" cy="1051560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8576" y="42245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08576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129784" y="4206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중간에 바뀐 게 있습니까?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4023360"/>
            <a:ext cx="3474720" cy="1051560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02752" y="42245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02752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823960" y="4206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다시 4월로 돌아간다면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먼저 하시겠습니까?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534924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중요한 건 21이라는 숫자가 아닙니다.  무엇을 셀지 정한 순간부터 기록이 쌓이기 시작했습니다.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 w="12700">
            <a:solidFill>
              <a:srgbClr val="C15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669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– 24분  분기점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51560"/>
            <a:ext cx="10872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B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그런데 한 장 열어 보십시오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6766560" cy="1371600"/>
          </a:xfrm>
          <a:prstGeom prst="rect">
            <a:avLst/>
          </a:prstGeom>
          <a:solidFill>
            <a:srgbClr val="1B4038"/>
          </a:solidFill>
          <a:ln w="25400">
            <a:solidFill>
              <a:srgbClr val="C1502E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58368" y="16916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직접 촬영 사진 삽입 ]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6916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21장이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비어 있습니다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58368" y="3401568"/>
            <a:ext cx="3474720" cy="1280160"/>
          </a:xfrm>
          <a:prstGeom prst="rect">
            <a:avLst/>
          </a:prstGeom>
          <a:solidFill>
            <a:srgbClr val="1B4038"/>
          </a:solidFill>
          <a:ln w="12700">
            <a:solidFill>
              <a:srgbClr val="2A5C5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" y="36118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9502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F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지점 이름은 9곳,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F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지도는 없음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2544" y="3401568"/>
            <a:ext cx="3474720" cy="1280160"/>
          </a:xfrm>
          <a:prstGeom prst="rect">
            <a:avLst/>
          </a:prstGeom>
          <a:solidFill>
            <a:srgbClr val="1B4038"/>
          </a:solidFill>
          <a:ln w="12700">
            <a:solidFill>
              <a:srgbClr val="2A5C5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6864" y="36118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횟수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39502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F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 번 나갔는지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F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적혀 있지 않음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3401568"/>
            <a:ext cx="3474720" cy="1280160"/>
          </a:xfrm>
          <a:prstGeom prst="rect">
            <a:avLst/>
          </a:prstGeom>
          <a:solidFill>
            <a:srgbClr val="1B4038"/>
          </a:solidFill>
          <a:ln w="12700">
            <a:solidFill>
              <a:srgbClr val="2A5C5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36118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9502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F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인쇄물 형태가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F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정해지지 않음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502920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앞선 팀도 지금 비어 있습니다. 그런데 골격은 서 있습니다.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548640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여러분이 오늘 만들 것은 내용이 아니라 칸입니다.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669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– 28분  공용 양식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05840"/>
            <a:ext cx="10872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양식, 게 전용이 아닙니다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572768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'게'를 지우고 '식물'을 넣으면 곶자왈 카드, '지점'을 넣으면 거문오름 카드입니다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2057400"/>
            <a:ext cx="3977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2402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1장의 고정 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6060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이름 / 학명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32688" y="2852928"/>
            <a:ext cx="3429000" cy="10973"/>
          </a:xfrm>
          <a:prstGeom prst="rect">
            <a:avLst/>
          </a:prstGeom>
          <a:solidFill>
            <a:srgbClr val="C9D4D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28803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난이도 ★☆☆☆☆  ·  보호종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32688" y="3127248"/>
            <a:ext cx="3429000" cy="10973"/>
          </a:xfrm>
          <a:prstGeom prst="rect">
            <a:avLst/>
          </a:prstGeom>
          <a:solidFill>
            <a:srgbClr val="C9D4D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31546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서식지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32688" y="3401568"/>
            <a:ext cx="3429000" cy="10973"/>
          </a:xfrm>
          <a:prstGeom prst="rect">
            <a:avLst/>
          </a:prstGeom>
          <a:solidFill>
            <a:srgbClr val="C9D4D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34290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지역에서는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32688" y="3675888"/>
            <a:ext cx="3429000" cy="10973"/>
          </a:xfrm>
          <a:prstGeom prst="rect">
            <a:avLst/>
          </a:prstGeom>
          <a:solidFill>
            <a:srgbClr val="C9D4D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3703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 · 구별법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2688" y="3950208"/>
            <a:ext cx="3429000" cy="10973"/>
          </a:xfrm>
          <a:prstGeom prst="rect">
            <a:avLst/>
          </a:prstGeom>
          <a:solidFill>
            <a:srgbClr val="C9D4D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39776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· 변화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" y="4224528"/>
            <a:ext cx="3429000" cy="10973"/>
          </a:xfrm>
          <a:prstGeom prst="rect">
            <a:avLst/>
          </a:prstGeom>
          <a:solidFill>
            <a:srgbClr val="C9D4D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688" y="42519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시기 / 조건 / 크기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2688" y="4498848"/>
            <a:ext cx="3429000" cy="10973"/>
          </a:xfrm>
          <a:prstGeom prst="rect">
            <a:avLst/>
          </a:prstGeom>
          <a:solidFill>
            <a:srgbClr val="C9D4D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45262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2688" y="4773168"/>
            <a:ext cx="3429000" cy="10973"/>
          </a:xfrm>
          <a:prstGeom prst="rect">
            <a:avLst/>
          </a:prstGeom>
          <a:solidFill>
            <a:srgbClr val="C9D4D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" y="48006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관찰자의 말 한 줄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32688" y="5047488"/>
            <a:ext cx="3429000" cy="10973"/>
          </a:xfrm>
          <a:prstGeom prst="rect">
            <a:avLst/>
          </a:prstGeom>
          <a:solidFill>
            <a:srgbClr val="C9D4D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2688" y="50749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날짜 · 장소  /  출처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32688" y="5321808"/>
            <a:ext cx="3429000" cy="10973"/>
          </a:xfrm>
          <a:prstGeom prst="rect">
            <a:avLst/>
          </a:prstGeom>
          <a:solidFill>
            <a:srgbClr val="C9D4D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3480" y="2057400"/>
            <a:ext cx="1097280" cy="475488"/>
          </a:xfrm>
          <a:prstGeom prst="rect">
            <a:avLst/>
          </a:prstGeom>
          <a:solidFill>
            <a:srgbClr val="2E7D6B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65776" y="2057400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2057400"/>
            <a:ext cx="1920240" cy="475488"/>
          </a:xfrm>
          <a:prstGeom prst="rect">
            <a:avLst/>
          </a:prstGeom>
          <a:solidFill>
            <a:srgbClr val="2E7D6B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63056" y="20574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게팀 (실제)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01000" y="2057400"/>
            <a:ext cx="1783080" cy="475488"/>
          </a:xfrm>
          <a:prstGeom prst="rect">
            <a:avLst/>
          </a:prstGeom>
          <a:solidFill>
            <a:srgbClr val="2E7D6B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83296" y="2057400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곶자왈팀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784080" y="2057400"/>
            <a:ext cx="1737360" cy="475488"/>
          </a:xfrm>
          <a:prstGeom prst="rect">
            <a:avLst/>
          </a:prstGeom>
          <a:solidFill>
            <a:srgbClr val="2E7D6B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66376" y="205740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거문오름팀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83480" y="2532888"/>
            <a:ext cx="1097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65776" y="2532888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80760" y="2532888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63056" y="253288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 1종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01000" y="2532888"/>
            <a:ext cx="1783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83296" y="2532888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식물 1종 / 지형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784080" y="2532888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866376" y="253288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지점 · 구간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983480" y="3008376"/>
            <a:ext cx="1097280" cy="47548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65776" y="3008376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080760" y="3008376"/>
            <a:ext cx="1920240" cy="47548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63056" y="30083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상과 · 과 · 속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001000" y="3008376"/>
            <a:ext cx="1783080" cy="47548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083296" y="3008376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 · 속 · 종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784080" y="3008376"/>
            <a:ext cx="1737360" cy="47548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866376" y="300837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지질 단위 / 식생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983480" y="3483864"/>
            <a:ext cx="1097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065776" y="3483864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서식지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080760" y="3483864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163056" y="3483864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암반 조간대 · 기수역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001000" y="3483864"/>
            <a:ext cx="1783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083296" y="3483864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용암 지대 · 숨골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784080" y="3483864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866376" y="3483864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사면 방위 · 고도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983480" y="3959352"/>
            <a:ext cx="1097280" cy="47548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065776" y="3959352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지역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080760" y="3959352"/>
            <a:ext cx="1920240" cy="47548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163056" y="395935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"표선에서"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8001000" y="3959352"/>
            <a:ext cx="1783080" cy="47548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083296" y="3959352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"○○곶자왈에서"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784080" y="3959352"/>
            <a:ext cx="1737360" cy="47548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866376" y="395935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"거문오름 ○구간"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983480" y="4434840"/>
            <a:ext cx="1097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065776" y="4434840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구별법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080760" y="443484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163056" y="443484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갑각 · 이 개수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8001000" y="4434840"/>
            <a:ext cx="1783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083296" y="4434840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잎 · 착생 위치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784080" y="4434840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866376" y="44348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노두 · 식생 경계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983480" y="4910328"/>
            <a:ext cx="1097280" cy="47548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065776" y="4910328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6080760" y="4910328"/>
            <a:ext cx="1920240" cy="47548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163056" y="491032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물때 · 간조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8001000" y="4910328"/>
            <a:ext cx="1783080" cy="47548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8083296" y="4910328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계절 · 습도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9784080" y="4910328"/>
            <a:ext cx="1737360" cy="475488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866376" y="491032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탐방 시간 · 예약</a:t>
            </a:r>
            <a:endParaRPr lang="en-US" sz="1050" dirty="0"/>
          </a:p>
        </p:txBody>
      </p:sp>
      <p:sp>
        <p:nvSpPr>
          <p:cNvPr id="84" name="Text 82"/>
          <p:cNvSpPr txBox="1"/>
          <p:nvPr/>
        </p:nvSpPr>
        <p:spPr>
          <a:xfrm>
            <a:off x="658368" y="566928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카드가 같은 칸을 가지면, 빠진 칸이 눈에 보입니다.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669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– 32분  피벗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0584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결과물은 조사의 끝이 아니라,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조사의 설계도입니다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0" y="1051560"/>
            <a:ext cx="3749040" cy="1325880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0" y="129844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결과물을 만드는 게 아니라,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결과물이 데이터를 부릅니다.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578608"/>
            <a:ext cx="10872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고를 것은 하나입니다.  단, 12월 그날 손에 들고 나갈 수 있어야 합니다 — 유형(有形)의 결과물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3108960"/>
            <a:ext cx="2560320" cy="1051560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3697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323697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필드가이드 소책자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611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제본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3108960"/>
            <a:ext cx="2560320" cy="1051560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93592" y="323697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323697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 포스터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3611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1장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3108960"/>
            <a:ext cx="2560320" cy="1051560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64224" y="323697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48272" y="323697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분포 지도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748272" y="3611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인쇄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70264" y="3108960"/>
            <a:ext cx="2560320" cy="1051560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34856" y="323697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518904" y="323697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보고서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518904" y="3611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제본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4315968"/>
            <a:ext cx="2560320" cy="1051560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4439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07008" y="444398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 + 명세서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48188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인쇄 + QR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429000" y="4315968"/>
            <a:ext cx="2560320" cy="1051560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93592" y="44439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977640" y="444398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제안서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3977640" y="48188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제본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99632" y="4315968"/>
            <a:ext cx="2560320" cy="1051560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64224" y="44439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748272" y="444398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전시 패널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748272" y="48188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폼보드 3장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970264" y="4315968"/>
            <a:ext cx="2560320" cy="1051560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34856" y="44439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518904" y="444398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접이식 카드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9518904" y="48188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4단 접지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5742432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판형을 정하는 순간, 사진 몇 장·지도 몇 개·카드 몇 장이 자동으로 정해집니다.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669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– 68분  활동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05840"/>
            <a:ext cx="10872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워크지를 펴십시오 — 시작점이 다릅니다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5349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745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8745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트랙 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21408" y="18470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게팀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2860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아카이빙 완료 · 36쪽 초안 보유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633472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→ 결정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307238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S1부터 시작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347472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12월 결과물의 판형·부수 확정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21장 확보분과 미확보분 구분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 1장 담당자와 마감일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2688" y="4709160"/>
            <a:ext cx="4800600" cy="548640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15568" y="4709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 됐다고 느껴도 빈 칸이 있습니다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1645920"/>
            <a:ext cx="5349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47104" y="18745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 w="12700">
            <a:solidFill>
              <a:srgbClr val="C150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47104" y="18745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트랙 B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35824" y="18470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곶자왈팀 · 거문오름팀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47104" y="22860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아카이빙 없음 · 기록이 흩어진 상태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47104" y="2633472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정리 → 아이디어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547104" y="307238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 재고조사부터 시작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47104" y="347472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휴대폰 사진첩 4월 이후 스크롤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단톡방 사진·파일 탭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가방 속 수첩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47104" y="4709160"/>
            <a:ext cx="4800600" cy="548640"/>
          </a:xfrm>
          <a:prstGeom prst="rect">
            <a:avLst/>
          </a:prstGeom>
          <a:solidFill>
            <a:srgbClr val="EEF2F0"/>
          </a:solidFill>
          <a:ln w="12700">
            <a:solidFill>
              <a:srgbClr val="C9D4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29984" y="4709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없는 게 아니라 흩어져 있는 겁니다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5687568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 재고조사   →   S1 장면   →   S2 한 문장 질문   →   S3 유형 선택   →   S4 사양서   →   S5 백캐스팅   →   S6 3분 발표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669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– 90분  닫기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887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마지막 질문입니다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373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결과물이 없으면,</a:t>
            </a:r>
            <a:endParaRPr lang="en-US" sz="4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아쉬워집니까?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5204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 말고요.  나 말고 누구인지를 쓰십시오.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4206240"/>
            <a:ext cx="10872216" cy="27432"/>
          </a:xfrm>
          <a:prstGeom prst="rect">
            <a:avLst/>
          </a:prstGeom>
          <a:solidFill>
            <a:srgbClr val="2A5C51"/>
          </a:solidFill>
          <a:ln w="12700">
            <a:solidFill>
              <a:srgbClr val="2A5C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결과물은 조사의 끝이 아니라, 조사의 설계도다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98348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가져가실 문장은 이 하나입니다.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869680" y="4434840"/>
            <a:ext cx="2651760" cy="1234440"/>
          </a:xfrm>
          <a:prstGeom prst="rect">
            <a:avLst/>
          </a:prstGeom>
          <a:solidFill>
            <a:srgbClr val="1B4038"/>
          </a:solidFill>
          <a:ln w="12700">
            <a:solidFill>
              <a:srgbClr val="2A5C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0" y="4572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90일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51389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12월 성과공유회까지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5897880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마일스톤 날짜만 지금 확정하고 마칩니다.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성과결과물, 어떻게 만들 것인가</dc:title>
  <dc:subject>PptxGenJS Presentation</dc:subject>
  <dc:creator>JEJU CIS Workshop</dc:creator>
  <cp:lastModifiedBy>JEJU CIS Workshop</cp:lastModifiedBy>
  <cp:revision>1</cp:revision>
  <dcterms:created xsi:type="dcterms:W3CDTF">2026-09-03T12:38:12Z</dcterms:created>
  <dcterms:modified xsi:type="dcterms:W3CDTF">2026-09-03T12:38:12Z</dcterms:modified>
</cp:coreProperties>
</file>