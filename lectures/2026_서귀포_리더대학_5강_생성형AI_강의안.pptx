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7"/>
  </p:notesMasterIdLst>
  <p:sldIdLst>
    <p:sldId id="440" r:id="rId2"/>
    <p:sldId id="444" r:id="rId3"/>
    <p:sldId id="445" r:id="rId6"/>
    <p:sldId id="446" r:id="rId5"/>
    <p:sldId id="447" r:id="rId4"/>
    <p:sldId id="448" r:id="rId12"/>
    <p:sldId id="449" r:id="rId13"/>
    <p:sldId id="450" r:id="rId14"/>
    <p:sldId id="451" r:id="rId15"/>
    <p:sldId id="452" r:id="rId16"/>
    <p:sldId id="453" r:id="rId17"/>
    <p:sldId id="454" r:id="rId18"/>
    <p:sldId id="455" r:id="rId19"/>
    <p:sldId id="456" r:id="rId20"/>
    <p:sldId id="457" r:id="rId21"/>
    <p:sldId id="458" r:id="rId22"/>
    <p:sldId id="459" r:id="rId23"/>
    <p:sldId id="460" r:id="rId24"/>
    <p:sldId id="461" r:id="rId25"/>
    <p:sldId id="462" r:id="rId26"/>
    <p:sldId id="463" r:id="rId27"/>
    <p:sldId id="464" r:id="rId28"/>
    <p:sldId id="465" r:id="rId29"/>
    <p:sldId id="466" r:id="rId30"/>
    <p:sldId id="467" r:id="rId31"/>
    <p:sldId id="468" r:id="rId32"/>
    <p:sldId id="469" r:id="rId33"/>
    <p:sldId id="470" r:id="rId34"/>
    <p:sldId id="471" r:id="rId35"/>
    <p:sldId id="472" r:id="rId36"/>
  </p:sldIdLst>
  <p:sldSz cx="9906000" cy="6858000" type="A4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F4F8"/>
    <a:srgbClr val="00B050"/>
    <a:srgbClr val="01DDB9"/>
    <a:srgbClr val="C9B287"/>
    <a:srgbClr val="FFCC66"/>
    <a:srgbClr val="002A5E"/>
    <a:srgbClr val="2077D9"/>
    <a:srgbClr val="0BB5FF"/>
    <a:srgbClr val="0AB4FF"/>
    <a:srgbClr val="B9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96238" autoAdjust="0"/>
  </p:normalViewPr>
  <p:slideViewPr>
    <p:cSldViewPr snapToGrid="0" showGuides="1">
      <p:cViewPr>
        <p:scale>
          <a:sx n="66" d="100"/>
          <a:sy n="66" d="100"/>
        </p:scale>
        <p:origin x="1934" y="365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3984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A755B686-9FD5-4D76-8F70-203BB423AFF2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739DA5C1-0DD1-4F2F-88FF-EAB080AEC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131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57275" y="1279525"/>
            <a:ext cx="4989513" cy="34544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b="1" kern="120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90000"/>
                  <a:lumOff val="10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DA5C1-0DD1-4F2F-88FF-EAB080AEC21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38535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교안기본포맷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03756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2193005"/>
      </p:ext>
    </p:extLst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2C3D7-801C-40C2-BD54-E00960DA70B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1086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</p:sldLayoutIdLst>
  <p:hf hdr="0" ftr="0" dt="0"/>
  <p:txStyles>
    <p:titleStyle>
      <a:lvl1pPr algn="l" defTabSz="742950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1" name="Rectangle 2"/>
          <p:cNvSpPr/>
          <p:nvPr/>
        </p:nvSpPr>
        <p:spPr>
          <a:xfrm>
            <a:off x="2857440" y="4261984"/>
            <a:ext cx="5221689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ㅣ강의 주제ㅣ  생성형 AI(ChatGPT) 활용을 통한 지역 역량강화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맑은 고딕"/>
              </a:rPr>
              <a:t>ㅣ강  사  명ㅣ  홍길동  (소속·직함 기입)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맑은 고딕"/>
              </a:rPr>
              <a:t>ㅣ일       시ㅣ  2026년 6월 8일 (월) 18:30 ~ 20:10</a:t>
            </a:r>
          </a:p>
        </p:txBody>
      </p:sp>
      <p:grpSp>
        <p:nvGrpSpPr>
          <p:cNvPr id="36" name="그룹 35"/>
          <p:cNvGrpSpPr/>
          <p:nvPr/>
        </p:nvGrpSpPr>
        <p:grpSpPr>
          <a:xfrm>
            <a:off x="4322370" y="3650245"/>
            <a:ext cx="991262" cy="587173"/>
            <a:chOff x="363255" y="6848791"/>
            <a:chExt cx="1515649" cy="587173"/>
          </a:xfrm>
        </p:grpSpPr>
        <p:sp>
          <p:nvSpPr>
            <p:cNvPr id="37" name="모서리가 둥근 직사각형 36"/>
            <p:cNvSpPr/>
            <p:nvPr/>
          </p:nvSpPr>
          <p:spPr>
            <a:xfrm>
              <a:off x="363255" y="6969049"/>
              <a:ext cx="1515649" cy="466915"/>
            </a:xfrm>
            <a:prstGeom prst="roundRect">
              <a:avLst>
                <a:gd name="adj" fmla="val 50000"/>
              </a:avLst>
            </a:prstGeom>
            <a:solidFill>
              <a:srgbClr val="006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17879594-9CA2-C1E9-0000-B05D715D5437}"/>
                </a:ext>
              </a:extLst>
            </p:cNvPr>
            <p:cNvSpPr/>
            <p:nvPr/>
          </p:nvSpPr>
          <p:spPr>
            <a:xfrm>
              <a:off x="363255" y="6848791"/>
              <a:ext cx="1515649" cy="574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2400" b="1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+mn-ea"/>
                </a:rPr>
                <a:t>1</a:t>
              </a:r>
              <a:r>
                <a:rPr lang="ko-KR" altLang="en-US" sz="2400" b="1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+mn-ea"/>
                </a:rPr>
                <a:t>강</a:t>
              </a:r>
              <a:endParaRPr lang="ko-KR" altLang="en-US" sz="24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1216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906000" cy="6858000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474562" y="393539"/>
              <a:ext cx="8970380" cy="6464461"/>
            </a:xfrm>
            <a:prstGeom prst="rect">
              <a:avLst/>
            </a:prstGeom>
            <a:solidFill>
              <a:srgbClr val="E9F4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750967" y="1248761"/>
            <a:ext cx="1663804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4800" b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6FFF"/>
                </a:solidFill>
                <a:latin typeface="+mn-ea"/>
              </a:rPr>
              <a:t>목 차</a:t>
            </a:r>
          </a:p>
        </p:txBody>
      </p:sp>
      <p:sp>
        <p:nvSpPr>
          <p:cNvPr id="7" name="Rectangle 2"/>
          <p:cNvSpPr/>
          <p:nvPr/>
        </p:nvSpPr>
        <p:spPr>
          <a:xfrm>
            <a:off x="3262235" y="943961"/>
            <a:ext cx="522168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1F2A44"/>
                </a:solidFill>
                <a:latin typeface="맑은 고딕"/>
              </a:rPr>
              <a:t>01.  생성형 AI, 무엇이고 왜 알아야 하는가</a:t>
            </a:r>
            <a:r>
              <a:rPr sz="1400" b="0">
                <a:solidFill>
                  <a:srgbClr val="006FFF"/>
                </a:solidFill>
                <a:latin typeface="맑은 고딕"/>
              </a:rPr>
              <a:t>    (15분)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1F2A44"/>
                </a:solidFill>
                <a:latin typeface="맑은 고딕"/>
              </a:rPr>
              <a:t>02.  ChatGPT 시작하기 — 가입과 기본 사용법</a:t>
            </a:r>
            <a:r>
              <a:rPr sz="1400" b="0">
                <a:solidFill>
                  <a:srgbClr val="006FFF"/>
                </a:solidFill>
                <a:latin typeface="맑은 고딕"/>
              </a:rPr>
              <a:t>    (20분)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1F2A44"/>
                </a:solidFill>
                <a:latin typeface="맑은 고딕"/>
              </a:rPr>
              <a:t>03.  좋은 프롬프트 작성법 (CLEAR 원칙)</a:t>
            </a:r>
            <a:r>
              <a:rPr sz="1400" b="0">
                <a:solidFill>
                  <a:srgbClr val="006FFF"/>
                </a:solidFill>
                <a:latin typeface="맑은 고딕"/>
              </a:rPr>
              <a:t>    (20분)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1F2A44"/>
                </a:solidFill>
                <a:latin typeface="맑은 고딕"/>
              </a:rPr>
              <a:t>04.  지역 사업계획 초안 만들기 (팀 실습)</a:t>
            </a:r>
            <a:r>
              <a:rPr sz="1400" b="0">
                <a:solidFill>
                  <a:srgbClr val="006FFF"/>
                </a:solidFill>
                <a:latin typeface="맑은 고딕"/>
              </a:rPr>
              <a:t>    (30분)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1F2A44"/>
                </a:solidFill>
                <a:latin typeface="맑은 고딕"/>
              </a:rPr>
              <a:t>05.  결과물 검토 · 보완 · 적용 방안</a:t>
            </a:r>
            <a:r>
              <a:rPr sz="1400" b="0">
                <a:solidFill>
                  <a:srgbClr val="006FFF"/>
                </a:solidFill>
                <a:latin typeface="맑은 고딕"/>
              </a:rPr>
              <a:t>    (15분)</a:t>
            </a:r>
          </a:p>
        </p:txBody>
      </p:sp>
    </p:spTree>
    <p:extLst>
      <p:ext uri="{BB962C8B-B14F-4D97-AF65-F5344CB8AC3E}">
        <p14:creationId xmlns:p14="http://schemas.microsoft.com/office/powerpoint/2010/main" val="75088524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0"/>
            <a:ext cx="8595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6FFF"/>
                </a:solidFill>
                <a:latin typeface="맑은 고딕"/>
              </a:rPr>
              <a:t>◆ 시간표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94560"/>
            <a:ext cx="2103120" cy="41148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시간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2194560"/>
            <a:ext cx="4572000" cy="41148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내용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2194560"/>
            <a:ext cx="1920240" cy="41148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형식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2103120" cy="50292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18:30 ~ 18:45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2651760"/>
            <a:ext cx="45720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01. 생성형 AI 이해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2651760"/>
            <a:ext cx="192024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강의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2103120" cy="50292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18:45 ~ 19:05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3200400"/>
            <a:ext cx="45720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02. ChatGPT 시작하기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200400"/>
            <a:ext cx="192024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강의 + 시연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40"/>
            <a:ext cx="2103120" cy="50292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19:05 ~ 19:25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3749040"/>
            <a:ext cx="45720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03. 좋은 프롬프트 작성법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749040"/>
            <a:ext cx="192024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강의 + 개인 실습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2103120" cy="50292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19:25 ~ 19:55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4297680"/>
            <a:ext cx="45720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04. 지역 사업계획 초안 만들기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297680"/>
            <a:ext cx="192024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팀 실습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46320"/>
            <a:ext cx="2103120" cy="50292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19:55 ~ 20:10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4846320"/>
            <a:ext cx="45720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05. 검토 · 적용 방안 / Q&amp;A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4846320"/>
            <a:ext cx="192024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토의 · 마무리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8595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6FFF"/>
                </a:solidFill>
                <a:latin typeface="맑은 고딕"/>
              </a:rPr>
              <a:t>◆ 학습 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126480"/>
            <a:ext cx="8229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① AI의 기본 기능을 이해하고 지역공동체에 적용할 줄 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446520"/>
            <a:ext cx="8229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② 우리 지역 사업 아이디어를 ChatGPT로 구체화할 수 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194560"/>
            <a:ext cx="2011680" cy="73152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84124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>
                <a:solidFill>
                  <a:srgbClr val="1F2A44"/>
                </a:solidFill>
                <a:latin typeface="맑은 고딕"/>
              </a:rPr>
              <a:t>생성형 AI, 무엇이고 왜 알아야 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8412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주민자치 리더가 알아야 할 AI 시대의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846320"/>
            <a:ext cx="18288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828800"/>
            <a:ext cx="8412480" cy="82296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“사람이 글·말로 요청하면, 새로운 글·이미지·코드를 만들어주는 인공지능”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926080"/>
            <a:ext cx="4114800" cy="219456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00" b="0">
                <a:solidFill>
                  <a:srgbClr val="333333"/>
                </a:solidFill>
                <a:latin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3749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맑은 고딕"/>
              </a:rPr>
              <a:t>기존 AI (분류·예측형)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374904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정해진 답을 고르는 AI
• 예: 스팸 메일 분류, 얼굴 인식
• 새로운 것을 만들지는 못함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926080"/>
            <a:ext cx="4114800" cy="219456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00" b="0">
                <a:solidFill>
                  <a:srgbClr val="333333"/>
                </a:solidFill>
                <a:latin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3108960"/>
            <a:ext cx="3749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6FFF"/>
                </a:solidFill>
                <a:latin typeface="맑은 고딕"/>
              </a:rPr>
              <a:t>생성형 AI (Generative 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3611880"/>
            <a:ext cx="374904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새로운 글·그림·요약을 만들어냄
• 예: ChatGPT, 미드저니, Claude
• 사람과 ‘대화하듯’ 사용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8595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맑은 고딕"/>
              </a:rPr>
              <a:t>★ 핵심 한 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85953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“검색해서 찾는 시대 → 물어보면 정리해주는 시대”로 바뀌고 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737360"/>
            <a:ext cx="4023360" cy="502920"/>
          </a:xfrm>
          <a:prstGeom prst="roundRect">
            <a:avLst/>
          </a:prstGeom>
          <a:solidFill>
            <a:srgbClr val="2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잘 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20640" y="1737360"/>
            <a:ext cx="4023360" cy="502920"/>
          </a:xfrm>
          <a:prstGeom prst="roundRect">
            <a:avLst/>
          </a:prstGeom>
          <a:solidFill>
            <a:srgbClr val="E14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어렵습니다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402336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✓  긴 글 요약하기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80360"/>
            <a:ext cx="402336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✓  공문·인사말·보도자료 초안 쓰기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402336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✓  아이디어 50가지 쏟아내기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402336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✓  외국어 번역 (한↔영, 한↔일)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402336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✓  회의록·발표자료 정리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402336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✓  복잡한 내용을 쉽게 풀어 설명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377440"/>
            <a:ext cx="402336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4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!  최신 뉴스·실시간 정보 (그날의 사실)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880360"/>
            <a:ext cx="402336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4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!  지역의 정확한 통계 수치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3383280"/>
            <a:ext cx="402336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4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!  법령·예산의 정확한 인용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3886200"/>
            <a:ext cx="402336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4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!  개인정보·민감정보 처리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4389120"/>
            <a:ext cx="402336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4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!  ‘있는 사실’과 ‘만들어낸 말’ 구별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4892040"/>
            <a:ext cx="402336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4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!  현장 판단·정치적 결정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828800"/>
            <a:ext cx="2743200" cy="146304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965960"/>
            <a:ext cx="2468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6FFF"/>
                </a:solidFill>
                <a:latin typeface="맑은 고딕"/>
              </a:rPr>
              <a:t>스마트폰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23160"/>
            <a:ext cx="24688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사진 인물 자동 분류, 음성 비서(시리·빅스비)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28800"/>
            <a:ext cx="2743200" cy="146304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94760" y="1965960"/>
            <a:ext cx="2468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6FFF"/>
                </a:solidFill>
                <a:latin typeface="맑은 고딕"/>
              </a:rPr>
              <a:t>내비게이션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2423160"/>
            <a:ext cx="24688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실시간 도로 분석, 도착 시간 예측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28800"/>
            <a:ext cx="2743200" cy="146304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965960"/>
            <a:ext cx="2468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6FFF"/>
                </a:solidFill>
                <a:latin typeface="맑은 고딕"/>
              </a:rPr>
              <a:t>쇼핑·OTT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423160"/>
            <a:ext cx="24688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추천 알고리즘 (유튜브·넷플릭스·쿠팡)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2743200" cy="146304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11880"/>
            <a:ext cx="2468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6FFF"/>
                </a:solidFill>
                <a:latin typeface="맑은 고딕"/>
              </a:rPr>
              <a:t>은행·카드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24688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이상 거래 탐지, 챗봇 상담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3474720"/>
            <a:ext cx="2743200" cy="146304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3611880"/>
            <a:ext cx="2468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6FFF"/>
                </a:solidFill>
                <a:latin typeface="맑은 고딕"/>
              </a:rPr>
              <a:t>행정·민원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069080"/>
            <a:ext cx="24688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콜센터 자동응답, 민원 분류 자동화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474720"/>
            <a:ext cx="2743200" cy="146304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611880"/>
            <a:ext cx="2468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6FFF"/>
                </a:solidFill>
                <a:latin typeface="맑은 고딕"/>
              </a:rPr>
              <a:t>의료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069080"/>
            <a:ext cx="24688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엑스레이·CT 영상 판독 보조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8595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맑은 고딕"/>
              </a:rPr>
              <a:t>★ 생각해보기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77840"/>
            <a:ext cx="85953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“우리 마을·우리 자치회에 AI를 적용한다면 어떤 일이 가장 먼저 떠오르나요?”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194560"/>
            <a:ext cx="2011680" cy="73152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84124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>
                <a:solidFill>
                  <a:srgbClr val="1F2A44"/>
                </a:solidFill>
                <a:latin typeface="맑은 고딕"/>
              </a:rPr>
              <a:t>ChatGPT 시작하기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8412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가입부터 첫 대화까지 — 5분이면 끝납니다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846320"/>
            <a:ext cx="18288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828800"/>
            <a:ext cx="8412480" cy="91440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OpenAI사가 만든 ‘대화형 인공지능 비서’
→  채팅창에 글을 입력하면, AI가 즉시 답변을 만들어줍니다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017520"/>
            <a:ext cx="1828800" cy="36576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006FFF"/>
                </a:solidFill>
                <a:latin typeface="맑은 고딕"/>
              </a:rPr>
              <a:t>개발사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06040" y="3017520"/>
            <a:ext cx="667512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OpenAI (미국)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29000"/>
            <a:ext cx="1828800" cy="36576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006FFF"/>
                </a:solidFill>
                <a:latin typeface="맑은 고딕"/>
              </a:rPr>
              <a:t>출시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3429000"/>
            <a:ext cx="667512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2022년 11월 30일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828800" cy="36576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006FFF"/>
                </a:solidFill>
                <a:latin typeface="맑은 고딕"/>
              </a:rPr>
              <a:t>이용자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3840480"/>
            <a:ext cx="667512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전 세계 약 8억 명 (2025년 기준)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60"/>
            <a:ext cx="1828800" cy="36576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006FFF"/>
                </a:solidFill>
                <a:latin typeface="맑은 고딕"/>
              </a:rPr>
              <a:t>가격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4251960"/>
            <a:ext cx="667512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기본 무료 · 유료(Plus) 월 20달러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1828800" cy="36576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006FFF"/>
                </a:solidFill>
                <a:latin typeface="맑은 고딕"/>
              </a:rPr>
              <a:t>접속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4663440"/>
            <a:ext cx="667512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PC: chatgpt.com / 모바일: 앱스토어 · 플레이스토어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74920"/>
            <a:ext cx="1828800" cy="36576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006FFF"/>
                </a:solidFill>
                <a:latin typeface="맑은 고딕"/>
              </a:rPr>
              <a:t>언어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5074920"/>
            <a:ext cx="667512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한국어 완벽 지원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08760" y="1828800"/>
            <a:ext cx="502920" cy="50292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94560"/>
            <a:ext cx="2057400" cy="301752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2057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접속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178308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chatgpt.com 주소창에 입력
또는 ‘ChatGPT’ 앱 설치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43200" y="3520440"/>
            <a:ext cx="228600" cy="274320"/>
          </a:xfrm>
          <a:prstGeom prst="rightArrow">
            <a:avLst/>
          </a:prstGeom>
          <a:solidFill>
            <a:srgbClr val="0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85032" y="1828800"/>
            <a:ext cx="502920" cy="50292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2194560"/>
            <a:ext cx="2057400" cy="301752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2" y="2606040"/>
            <a:ext cx="2057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회원가입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3154680"/>
            <a:ext cx="178308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‘Sign up’ 클릭
구글·카카오·이메일 중 선택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19472" y="3520440"/>
            <a:ext cx="228600" cy="274320"/>
          </a:xfrm>
          <a:prstGeom prst="rightArrow">
            <a:avLst/>
          </a:prstGeom>
          <a:solidFill>
            <a:srgbClr val="0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61304" y="1828800"/>
            <a:ext cx="502920" cy="50292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2194560"/>
            <a:ext cx="2057400" cy="301752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2606040"/>
            <a:ext cx="2057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인증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3154680"/>
            <a:ext cx="178308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휴대폰 번호로 SMS 인증
(1분 소요)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95744" y="3520440"/>
            <a:ext cx="228600" cy="274320"/>
          </a:xfrm>
          <a:prstGeom prst="rightArrow">
            <a:avLst/>
          </a:prstGeom>
          <a:solidFill>
            <a:srgbClr val="0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37576" y="1828800"/>
            <a:ext cx="502920" cy="50292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2194560"/>
            <a:ext cx="2057400" cy="301752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0336" y="2606040"/>
            <a:ext cx="2057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시작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496" y="3154680"/>
            <a:ext cx="178308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이름 입력 후 바로 사용 가능
채팅창에 질문 입력!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94960"/>
            <a:ext cx="8595360" cy="822960"/>
          </a:xfrm>
          <a:prstGeom prst="roundRect">
            <a:avLst/>
          </a:prstGeom>
          <a:solidFill>
            <a:srgbClr val="F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FF6B35"/>
                </a:solidFill>
                <a:latin typeface="맑은 고딕"/>
              </a:rPr>
              <a:t>TIP. 구글 계정이 있다면 ‘Google로 계속하기’가 가장 빠릅니다 (3분 완료)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828800"/>
            <a:ext cx="8412480" cy="411480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828800" cy="3749039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① 사이드바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06040"/>
            <a:ext cx="1737360" cy="2926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
+ 새 채팅
[이전 대화 1]
[이전 대화 2]
[이전 대화 3]
· · ·
프로필 /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2011680"/>
            <a:ext cx="61264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2194560"/>
            <a:ext cx="6126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06FFF"/>
                </a:solidFill>
                <a:latin typeface="맑은 고딕"/>
              </a:rPr>
              <a:t>② 대화창 (사용자 ↔ AI 메시지)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5029200"/>
            <a:ext cx="612648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6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5120640"/>
            <a:ext cx="6126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006FFF"/>
                </a:solidFill>
                <a:latin typeface="맑은 고딕"/>
              </a:rPr>
              <a:t>③ 입력창 — 여기에 질문을 적고 Enter 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8595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◆ 기억하세요:  ① 왼쪽 = 이전 대화 보관함  ② 가운데 = 답변  ③ 아래 = 질문 입력창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0"/>
            <a:ext cx="1828800" cy="45720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94560" y="1828800"/>
            <a:ext cx="3657600" cy="45720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무료 (Free)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1828800"/>
            <a:ext cx="3657600" cy="45720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유료 (Plus)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331720"/>
            <a:ext cx="1828800" cy="50292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월 요금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2331720"/>
            <a:ext cx="3657600" cy="50292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0원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2331720"/>
            <a:ext cx="3657600" cy="50292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약 30,000원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834640"/>
            <a:ext cx="18288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사용 모델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2834640"/>
            <a:ext cx="36576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GPT-5 기본형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834640"/>
            <a:ext cx="36576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최신·고급 모델 모두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337560"/>
            <a:ext cx="1828800" cy="50292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이미지 생성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3337560"/>
            <a:ext cx="3657600" cy="50292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하루 제한적 가능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3337560"/>
            <a:ext cx="3657600" cy="50292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사실상 무제한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840480"/>
            <a:ext cx="18288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파일 업로드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3840480"/>
            <a:ext cx="36576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가능 (제한)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3840480"/>
            <a:ext cx="36576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PDF·엑셀 등 자유롭게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343400"/>
            <a:ext cx="1828800" cy="50292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응답 속도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4343400"/>
            <a:ext cx="3657600" cy="50292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보통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4343400"/>
            <a:ext cx="3657600" cy="50292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혼잡 시간에도 빠름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846320"/>
            <a:ext cx="18288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추천 대상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4846320"/>
            <a:ext cx="36576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처음 배우는 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4846320"/>
            <a:ext cx="36576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333333"/>
                </a:solidFill>
                <a:latin typeface="맑은 고딕"/>
              </a:rPr>
              <a:t>업무에 매일 쓰는 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532120"/>
            <a:ext cx="9144000" cy="640080"/>
          </a:xfrm>
          <a:prstGeom prst="roundRect">
            <a:avLst/>
          </a:prstGeom>
          <a:solidFill>
            <a:srgbClr val="F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FF6B35"/>
                </a:solidFill>
                <a:latin typeface="맑은 고딕"/>
              </a:rPr>
              <a:t>오늘 강의는 ‘무료 버전’으로 충분합니다 — 먼저 익숙해진 뒤 필요하면 유료로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E14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25880" y="1828800"/>
            <a:ext cx="7955279" cy="640080"/>
          </a:xfrm>
          <a:prstGeom prst="roundRect">
            <a:avLst/>
          </a:prstGeom>
          <a:solidFill>
            <a:srgbClr val="F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874520"/>
            <a:ext cx="7772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주민등록번호 · 계좌번호 · 비밀번호 입력 금지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194560"/>
            <a:ext cx="7772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AI 회사 서버로 전송됩니다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rgbClr val="E14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2606040"/>
            <a:ext cx="7955279" cy="640080"/>
          </a:xfrm>
          <a:prstGeom prst="roundRect">
            <a:avLst/>
          </a:prstGeom>
          <a:solidFill>
            <a:srgbClr val="F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651760"/>
            <a:ext cx="7772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민원인 · 동료의 실명, 연락처 입력 금지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71800"/>
            <a:ext cx="7772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익명 처리 후 사용하세요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E14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3383280"/>
            <a:ext cx="7955279" cy="640080"/>
          </a:xfrm>
          <a:prstGeom prst="roundRect">
            <a:avLst/>
          </a:prstGeom>
          <a:solidFill>
            <a:srgbClr val="F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429000"/>
            <a:ext cx="7772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공문 · 비공개 문서 그대로 붙여넣기 주의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749040"/>
            <a:ext cx="7772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민감정보 마스킹 후 사용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E14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80" y="4160520"/>
            <a:ext cx="7955279" cy="640080"/>
          </a:xfrm>
          <a:prstGeom prst="roundRect">
            <a:avLst/>
          </a:prstGeom>
          <a:solidFill>
            <a:srgbClr val="F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4206240"/>
            <a:ext cx="7772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답변을 100% 믿지 말 것 (꼭 팩트체크)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26280"/>
            <a:ext cx="7772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수치 · 법령 · 인용은 직접 확인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E14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4937760"/>
            <a:ext cx="7955279" cy="640080"/>
          </a:xfrm>
          <a:prstGeom prst="roundRect">
            <a:avLst/>
          </a:prstGeom>
          <a:solidFill>
            <a:srgbClr val="F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4983480"/>
            <a:ext cx="7772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최종 결정은 사람이 — AI는 ‘초안 작성 비서’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303520"/>
            <a:ext cx="7772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검토 · 책임은 사용자 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194560"/>
            <a:ext cx="2011680" cy="73152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84124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>
                <a:solidFill>
                  <a:srgbClr val="1F2A44"/>
                </a:solidFill>
                <a:latin typeface="맑은 고딕"/>
              </a:rPr>
              <a:t>좋은 프롬프트 작성법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8412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‘질문의 기술’이 AI 활용의 90%를 결정합니다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846320"/>
            <a:ext cx="18288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828800"/>
            <a:ext cx="8412480" cy="91440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프롬프트 = AI에게 일을 시키는 ‘지시문’
= 사람과 똑같이, 친절하고 자세하게 부탁할수록 결과가 좋아집니다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8595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06FFF"/>
                </a:solidFill>
                <a:latin typeface="맑은 고딕"/>
              </a:rPr>
              <a:t>◆ 비유로 이해하기 — ‘새로 온 인턴’에게 일 시키기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0"/>
            <a:ext cx="411480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4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749039"/>
            <a:ext cx="3840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E14B3E"/>
                </a:solidFill>
                <a:latin typeface="맑은 고딕"/>
              </a:rPr>
              <a:t>✗ 막연한 지시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14800"/>
            <a:ext cx="384048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“보고서 좀 써줘.”
→ 인턴: 무슨 보고서요?
→ AI: (대충 일반적인 보고서)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3657600"/>
            <a:ext cx="4114800" cy="201168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2E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3749039"/>
            <a:ext cx="3840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2EA86B"/>
                </a:solidFill>
                <a:latin typeface="맑은 고딕"/>
              </a:rPr>
              <a:t>✓ 구체적 지시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4114800"/>
            <a:ext cx="384048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맑은 고딕"/>
              </a:rPr>
              <a:t>“60대 어르신 대상 ‘건강체조 교실’ 모집 안내문을 A4 1장,
친근한 말투, 3개 문단으로 써줘.”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85953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맑은 고딕"/>
              </a:rPr>
              <a:t>★ 핵심: ‘누구에게 / 무엇을 / 어떤 형식으로’ 명확히 알려주세요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74520"/>
            <a:ext cx="2286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Context  (맥락)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12848"/>
            <a:ext cx="2286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배경·상황을 알려준다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874520"/>
            <a:ext cx="5486400" cy="64008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예) “나는 ○○동 주민자치위원장이다.”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06040"/>
            <a:ext cx="640080" cy="64008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2286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Length  (분량)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90088"/>
            <a:ext cx="2286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결과물 길이를 정해준다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651760"/>
            <a:ext cx="5486400" cy="64008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예) “A4 1장 / 500자 / 7줄 이내로”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383280"/>
            <a:ext cx="640080" cy="64008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29000"/>
            <a:ext cx="2286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Example  (예시)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67328"/>
            <a:ext cx="2286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원하는 스타일의 견본을 준다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3429000"/>
            <a:ext cx="5486400" cy="64008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예) “이런 톤으로:  ~~~~”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160520"/>
            <a:ext cx="640080" cy="64008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2286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Audience  (대상)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44568"/>
            <a:ext cx="2286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누구를 위한 글인지 명시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4206240"/>
            <a:ext cx="5486400" cy="64008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예) “60대 어르신이 읽기 쉽게”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937760"/>
            <a:ext cx="640080" cy="64008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983480"/>
            <a:ext cx="2286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Role  (역할)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21808"/>
            <a:ext cx="2286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AI에게 역할을 부여한다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983480"/>
            <a:ext cx="5486400" cy="64008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예) “당신은 20년차 마을 활동가다.”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8778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FF6B35"/>
                </a:solidFill>
                <a:latin typeface="맑은 고딕"/>
              </a:rPr>
              <a:t>★ 다 외울 필요 없습니다 — 셋 이상만 챙겨도 결과물 품질이 크게 올라갑니다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828800"/>
            <a:ext cx="84124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4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92024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E14B3E"/>
                </a:solidFill>
                <a:latin typeface="맑은 고딕"/>
              </a:rPr>
              <a:t>✗ Bad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82296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맑은 고딕"/>
              </a:rPr>
              <a:t>“어르신 행사 안내문 써줘.”</a:t>
            </a:r>
          </a:p>
        </p:txBody>
      </p:sp>
      <p:sp>
        <p:nvSpPr>
          <p:cNvPr id="5" name="Down Arrow 4"/>
          <p:cNvSpPr/>
          <p:nvPr/>
        </p:nvSpPr>
        <p:spPr>
          <a:xfrm>
            <a:off x="4572000" y="3108960"/>
            <a:ext cx="731520" cy="365760"/>
          </a:xfrm>
          <a:prstGeom prst="downArrow">
            <a:avLst/>
          </a:prstGeom>
          <a:solidFill>
            <a:srgbClr val="00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8412480" cy="274320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2E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2EA86B"/>
                </a:solidFill>
                <a:latin typeface="맑은 고딕"/>
              </a:rPr>
              <a:t>✓ Good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69080"/>
            <a:ext cx="8229600" cy="2286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“당신은 20년차 마을 활동가입니다. (Role)
  서귀포시 ○○동 65세 이상 어르신 50명을 대상으로 (Audience + Context)
  6월 28일 토요일 ‘건강체조 교실’ 모집 안내문을 작성해주세요. (Task)
  분량은 A4 한 장 이내, (Length)
  말투는 따뜻하고 정중하게,
  ‘제목 → 인사말 → 일정 → 신청방법 → 문의’ 5개 항목으로 정리해주세요.”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828800"/>
            <a:ext cx="8412480" cy="8229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“우리 마을 주민자치위원회 위원장 취임 인사말 만들기”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834640"/>
            <a:ext cx="1097280" cy="54864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Step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2834640"/>
            <a:ext cx="7315200" cy="54864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2880360"/>
            <a:ext cx="71323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ChatGPT 새 대화 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3127248"/>
            <a:ext cx="7132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왼쪽 위 ‘+ 새 채팅’ 클릭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20440"/>
            <a:ext cx="1097280" cy="54864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Step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3520440"/>
            <a:ext cx="7315200" cy="54864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3566160"/>
            <a:ext cx="71323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CLEAR 원칙 적용해 프롬프트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813048"/>
            <a:ext cx="7132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역할 · 대상 · 분량 · 톤을 꼭 포함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97280" cy="54864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Step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4206240"/>
            <a:ext cx="7315200" cy="54864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4251960"/>
            <a:ext cx="71323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결과 확인 후 보완 요청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498848"/>
            <a:ext cx="7132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“좀 더 짧게” “더 친근하게” 추가 요청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92040"/>
            <a:ext cx="1097280" cy="54864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Step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4892040"/>
            <a:ext cx="7315200" cy="54864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4937760"/>
            <a:ext cx="71323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마음에 드는 한 문장 골라 메모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5184648"/>
            <a:ext cx="71323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전체 활용 X — 부분만 따와도 OK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194560"/>
            <a:ext cx="2011680" cy="73152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SECTION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84124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>
                <a:solidFill>
                  <a:srgbClr val="1F2A44"/>
                </a:solidFill>
                <a:latin typeface="맑은 고딕"/>
              </a:rPr>
              <a:t>지역 사업계획 초안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8412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팀별 30분 실습 — AI로 한 시간이 하루로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846320"/>
            <a:ext cx="18288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874520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맑은 고딕"/>
              </a:rPr>
              <a:t>사업명 · 슬로건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194560"/>
            <a:ext cx="3200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한 줄로 설명되는 직관적 이름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874520"/>
            <a:ext cx="4297680" cy="59436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100" b="1">
                <a:solidFill>
                  <a:srgbClr val="006FFF"/>
                </a:solidFill>
                <a:latin typeface="맑은 고딕"/>
              </a:rPr>
              <a:t>AI에게: “○○ 사업의 매력적인 한 줄 이름 5가지”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640080" cy="64008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06040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맑은 고딕"/>
              </a:rPr>
              <a:t>추진 배경 · 필요성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26080"/>
            <a:ext cx="3200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왜 지금 우리 마을에 필요한가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606040"/>
            <a:ext cx="4297680" cy="59436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100" b="1">
                <a:solidFill>
                  <a:srgbClr val="006FFF"/>
                </a:solidFill>
                <a:latin typeface="맑은 고딕"/>
              </a:rPr>
              <a:t>AI에게: “○○ 지역의 △△ 문제를 데이터로 정리해줘”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91840"/>
            <a:ext cx="640080" cy="64008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337560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맑은 고딕"/>
              </a:rPr>
              <a:t>대상 · 규모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657600"/>
            <a:ext cx="3200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누구를 위해, 몇 명 · 몇 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337560"/>
            <a:ext cx="4297680" cy="59436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100" b="1">
                <a:solidFill>
                  <a:srgbClr val="006FFF"/>
                </a:solidFill>
                <a:latin typeface="맑은 고딕"/>
              </a:rPr>
              <a:t>AI에게: “대상자 모집 시 고려할 페르소나 3가지”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023360"/>
            <a:ext cx="640080" cy="64008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69080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맑은 고딕"/>
              </a:rPr>
              <a:t>추진 일정 ·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89120"/>
            <a:ext cx="3200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언제, 어디서, 어떻게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069080"/>
            <a:ext cx="4297680" cy="59436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100" b="1">
                <a:solidFill>
                  <a:srgbClr val="006FFF"/>
                </a:solidFill>
                <a:latin typeface="맑은 고딕"/>
              </a:rPr>
              <a:t>AI에게: “6주 일정표를 표로 그려줘”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754880"/>
            <a:ext cx="640080" cy="64008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800600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맑은 고딕"/>
              </a:rPr>
              <a:t>기대 효과 · 예산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120640"/>
            <a:ext cx="3200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무엇이 달라지나, 얼마가 드나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4800600"/>
            <a:ext cx="4297680" cy="59436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100" b="1">
                <a:solidFill>
                  <a:srgbClr val="006FFF"/>
                </a:solidFill>
                <a:latin typeface="맑은 고딕"/>
              </a:rPr>
              <a:t>AI에게: “기대 효과를 정성·정량 지표로 나눠줘”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8595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6FFF"/>
                </a:solidFill>
                <a:latin typeface="맑은 고딕"/>
              </a:rPr>
              <a:t>◆ 이대로 복사 · 빈칸만 채워 사용하세요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8595360" cy="411480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/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당신은 20년 경력의 ‘마을 사업 컨설턴트’입니다.
[ 상황 ]
  · 지역:  서귀포시 [______동/마을]
  · 주민:  약 [______]명, 주요 연령대 [______]대
  · 현안:  [예) 청년 인구 감소 / 빈집 증가 / 마을 행사 침체]
[ 요청 ]
  위 상황을 해결할 ‘[______] 사업’의 기획안 초안을 작성해주세요.
  다음 5개 항목으로 구분해 표 형식으로 정리해주세요.
    ① 사업명 · 슬로건    ② 추진 배경 · 필요성    ③ 대상 · 규모
    ④ 추진 일정 · 방법    ⑤ 기대 효과 · 예산(개략)
[ 조건 ]
  · 예산은 [______]만원 이내
  · 일정은 총 [______]주 / [______]회차
  · 말투는 공문 톤, 분량은 A4 1~2장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828800"/>
            <a:ext cx="1463040" cy="86868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0~5분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828800"/>
            <a:ext cx="70408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23160" y="1920240"/>
            <a:ext cx="6858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팀 구성 · 주제 정하기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2286000"/>
            <a:ext cx="6858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5~6명씩 팀 / 우리 마을 현안 1개 선정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463040" cy="8686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5~15분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788920"/>
            <a:ext cx="70408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2880360"/>
            <a:ext cx="6858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AI에게 1차 초안 요청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3246120"/>
            <a:ext cx="6858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위 템플릿 활용 / 결과 출력 또는 화면 캡처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40"/>
            <a:ext cx="1463040" cy="868680"/>
          </a:xfrm>
          <a:prstGeom prst="roundRect">
            <a:avLst/>
          </a:prstGeom>
          <a:solidFill>
            <a:srgbClr val="2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15~25분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3749040"/>
            <a:ext cx="70408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840480"/>
            <a:ext cx="6858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결과 검토 · 보완 요청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4206240"/>
            <a:ext cx="6858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추가 질문 3~5회 / 우리 마을 맥락 반영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9160"/>
            <a:ext cx="1463040" cy="86868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25~30분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4709160"/>
            <a:ext cx="70408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4800600"/>
            <a:ext cx="6858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맑은 고딕"/>
              </a:rPr>
              <a:t>팀별 발표 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5166360"/>
            <a:ext cx="6858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‘우리 사업명 + 핵심 한 줄’ 정리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8595360" cy="548640"/>
          </a:xfrm>
          <a:prstGeom prst="roundRect">
            <a:avLst/>
          </a:prstGeom>
          <a:solidFill>
            <a:srgbClr val="F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6B35"/>
                </a:solidFill>
                <a:latin typeface="맑은 고딕"/>
              </a:rPr>
              <a:t>TIP. 한 사람이 입력하고 — 나머지가 함께 결과를 보며 토론하세요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828800"/>
            <a:ext cx="8595360" cy="128016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92024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006FFF"/>
                </a:solidFill>
                <a:latin typeface="맑은 고딕"/>
              </a:rPr>
              <a:t>입력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920240"/>
            <a:ext cx="73152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“서귀포시 ○○동(주민 1,200명, 60대 비중 45%)에서 청년 귀촌을
  유도할 워크숍 기획안을 위 템플릿 형식으로 작성해줘.
  예산 500만원 · 8주 일정 · 공문 톤.”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맑은 고딕"/>
              </a:rPr>
              <a:t>출력 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1554480" cy="36576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① 사업명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3703320"/>
            <a:ext cx="699516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‘○○동, 청년이 머무는 8주’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1554480" cy="36576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② 추진 배경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4160520"/>
            <a:ext cx="699516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고령화율 45% · 청년 유입 정책 부재 → 시범 사업 필요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554480" cy="36576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③ 대상 · 규모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4617720"/>
            <a:ext cx="699516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수도권 거주 20~30대 30명 / 8주간 주말 워크숍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74920"/>
            <a:ext cx="1554480" cy="36576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④ 일정 · 방법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5074920"/>
            <a:ext cx="699516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1~2주 모집 · 3~6주 현장 체험 · 7~8주 실거주 매칭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32120"/>
            <a:ext cx="1554480" cy="36576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⑤ 기대 효과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5532120"/>
            <a:ext cx="699516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참가자 5명 이상 귀촌 상담 / 지역 미디어 노출 3건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194560"/>
            <a:ext cx="2011680" cy="73152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SECTION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84124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>
                <a:solidFill>
                  <a:srgbClr val="1F2A44"/>
                </a:solidFill>
                <a:latin typeface="맑은 고딕"/>
              </a:rPr>
              <a:t>결과물 검토 · 적용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8412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AI는 ‘초안 비서’ — 마지막 결정은 사람이 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846320"/>
            <a:ext cx="18288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828800"/>
            <a:ext cx="914400" cy="1143000"/>
          </a:xfrm>
          <a:prstGeom prst="roundRect">
            <a:avLst/>
          </a:prstGeom>
          <a:solidFill>
            <a:srgbClr val="E14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83080" y="1828800"/>
            <a:ext cx="7498079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4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1920240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E14B3E"/>
                </a:solidFill>
                <a:latin typeface="맑은 고딕"/>
              </a:rPr>
              <a:t>할루시네이션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그럴듯한 ‘가짜 정보’를 만들어냄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0604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예) 존재하지 않는 법령·통계·인물·논문을 진짜처럼 인용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914400" cy="1143000"/>
          </a:xfrm>
          <a:prstGeom prst="roundRect">
            <a:avLst/>
          </a:prstGeom>
          <a:solidFill>
            <a:srgbClr val="E14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3108960"/>
            <a:ext cx="7498079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4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3200400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E14B3E"/>
                </a:solidFill>
                <a:latin typeface="맑은 고딕"/>
              </a:rPr>
              <a:t>최신 정보의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56616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학습 시점 이후 정보는 모름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88620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예) 어제 발표된 정책, 오늘의 환율, 이번주 뉴스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914400" cy="1143000"/>
          </a:xfrm>
          <a:prstGeom prst="roundRect">
            <a:avLst/>
          </a:prstGeom>
          <a:solidFill>
            <a:srgbClr val="E14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83080" y="4389120"/>
            <a:ext cx="7498079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4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4480560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E14B3E"/>
                </a:solidFill>
                <a:latin typeface="맑은 고딕"/>
              </a:rPr>
              <a:t>지역 맥락의 부족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8463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맑은 고딕"/>
              </a:rPr>
              <a:t>서귀포 우리 마을의 구체 사정은 모름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16636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예) ○○통장님 이름, ○○사업 작년 결과, 우리 위원회 분위기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828800"/>
            <a:ext cx="640080" cy="64008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200" b="1">
                <a:solidFill>
                  <a:srgbClr val="006FFF"/>
                </a:solidFill>
                <a:latin typeface="맑은 고딕"/>
              </a:rPr>
              <a:t>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874520"/>
            <a:ext cx="22860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맑은 고딕"/>
              </a:rPr>
              <a:t>숫자 · 통계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1828800"/>
            <a:ext cx="53949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출처 다시 검색 (통계청 KOSIS, 지자체 누리집)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640080" cy="64008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200" b="1">
                <a:solidFill>
                  <a:srgbClr val="006FFF"/>
                </a:solidFill>
                <a:latin typeface="맑은 고딕"/>
              </a:rPr>
              <a:t>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651760"/>
            <a:ext cx="22860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맑은 고딕"/>
              </a:rPr>
              <a:t>법령 · 조례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2606040"/>
            <a:ext cx="53949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국가법령정보센터 law.go.kr 에서 원문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640080" cy="64008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200" b="1">
                <a:solidFill>
                  <a:srgbClr val="006FFF"/>
                </a:solidFill>
                <a:latin typeface="맑은 고딕"/>
              </a:rPr>
              <a:t>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429000"/>
            <a:ext cx="22860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맑은 고딕"/>
              </a:rPr>
              <a:t>인용 · 사례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3383280"/>
            <a:ext cx="53949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‘진짜 있었던 사례’인지 검색 한 번 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640080" cy="64008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200" b="1">
                <a:solidFill>
                  <a:srgbClr val="006FFF"/>
                </a:solidFill>
                <a:latin typeface="맑은 고딕"/>
              </a:rPr>
              <a:t>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206240"/>
            <a:ext cx="22860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맑은 고딕"/>
              </a:rPr>
              <a:t>고유명사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4160520"/>
            <a:ext cx="53949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기관명 · 인명 · 지명 정확한지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640080" cy="64008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200" b="1">
                <a:solidFill>
                  <a:srgbClr val="006FFF"/>
                </a:solidFill>
                <a:latin typeface="맑은 고딕"/>
              </a:rPr>
              <a:t>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983480"/>
            <a:ext cx="22860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맑은 고딕"/>
              </a:rPr>
              <a:t>지역 맞춤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4937760"/>
            <a:ext cx="53949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F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우리 마을 맥락 · 정서에 어색함 없는지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943600"/>
            <a:ext cx="859536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AI 답변의 70%는 그대로 쓰고, 30%는 반드시 검증합니다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828800"/>
            <a:ext cx="4251960" cy="77724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920240"/>
            <a:ext cx="3337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회의록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2240280"/>
            <a:ext cx="3337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녹음·메모 → 5분 만에 회의록 초안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828800"/>
            <a:ext cx="4251960" cy="77724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12080" y="1965960"/>
            <a:ext cx="502920" cy="50292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920240"/>
            <a:ext cx="3337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공문·안내문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240280"/>
            <a:ext cx="3337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행사·모집·인사말 초안 → 20분 → 5분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4251960" cy="77724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880360"/>
            <a:ext cx="502920" cy="50292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34640"/>
            <a:ext cx="3337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주민 설문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154680"/>
            <a:ext cx="3337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주관식 답변 100개 → 핵심 키워드 자동 정리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2743200"/>
            <a:ext cx="4251960" cy="77724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12080" y="2880360"/>
            <a:ext cx="502920" cy="50292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834640"/>
            <a:ext cx="3337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외국어 안내문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154680"/>
            <a:ext cx="3337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관광객·이주민 대상 안내문 자동 번역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4251960" cy="77724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3794760"/>
            <a:ext cx="502920" cy="50292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49040"/>
            <a:ext cx="3337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회의 발표자료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069080"/>
            <a:ext cx="3337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초안 슬라이드 구성·문구 작성 도움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3657600"/>
            <a:ext cx="4251960" cy="77724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12080" y="3794760"/>
            <a:ext cx="502920" cy="50292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749040"/>
            <a:ext cx="3337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아이디어 회의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69080"/>
            <a:ext cx="3337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‘이런 사업 50가지 제안해줘’ 브레인스토밍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572000"/>
            <a:ext cx="4251960" cy="77724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4709160"/>
            <a:ext cx="502920" cy="502920"/>
          </a:xfrm>
          <a:prstGeom prst="ellipse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663440"/>
            <a:ext cx="3337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교육·강의 준비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983480"/>
            <a:ext cx="33375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강의 목차·예시·퀴즈 자동 생성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011680"/>
            <a:ext cx="8595360" cy="164592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“AI가 일을 빼앗는 것이 아니라,
  AI를 잘 쓰는 사람이 일을 더 잘하게 됩니다.”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023360"/>
            <a:ext cx="2788920" cy="182880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27889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006FFF"/>
                </a:solidFill>
                <a:latin typeface="맑은 고딕"/>
              </a:rPr>
              <a:t>① 두려워 말고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24231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오늘 가입 · 내일 바로 사용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4023360"/>
            <a:ext cx="2788920" cy="182880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4297680"/>
            <a:ext cx="27889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006FFF"/>
                </a:solidFill>
                <a:latin typeface="맑은 고딕"/>
              </a:rPr>
              <a:t>② 친절하게 부탁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4937760"/>
            <a:ext cx="24231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CLEAR 원칙 — 맥락 · 분량 · 대상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023360"/>
            <a:ext cx="2788920" cy="1828800"/>
          </a:xfrm>
          <a:prstGeom prst="roundRect">
            <a:avLst/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297680"/>
            <a:ext cx="27889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006FFF"/>
                </a:solidFill>
                <a:latin typeface="맑은 고딕"/>
              </a:rPr>
              <a:t>③ 끝은 사람이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937760"/>
            <a:ext cx="24231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팩트체크 · 우리 마을에 맞게 다듬기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2286000"/>
            <a:ext cx="6400800" cy="2286000"/>
          </a:xfrm>
          <a:prstGeom prst="roundRect">
            <a:avLst/>
          </a:prstGeom>
          <a:solidFill>
            <a:srgbClr val="00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7200" b="1">
                <a:solidFill>
                  <a:srgbClr val="FFFFFF"/>
                </a:solidFill>
                <a:latin typeface="맑은 고딕"/>
              </a:rPr>
              <a:t>Q  &amp; 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846320"/>
            <a:ext cx="8595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◆ 무엇이든 물어보세요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859536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맑은 고딕"/>
              </a:rPr>
              <a:t>· AI 사용 중 막힌 점
· 우리 마을·자치회에 어떻게 적용할지
· 다음 학습 / 추가 자료 안내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9611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000" b="1">
                <a:solidFill>
                  <a:srgbClr val="006FFF"/>
                </a:solidFill>
                <a:latin typeface="맑은 고딕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23360"/>
            <a:ext cx="89611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400" b="0">
                <a:solidFill>
                  <a:srgbClr val="6B7280"/>
                </a:solidFill>
                <a:latin typeface="맑은 고딕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937760"/>
            <a:ext cx="256032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89611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2026년 서귀포시 리더대학 주민자치학과 — 5강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89611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006FFF"/>
                </a:solidFill>
                <a:latin typeface="맑은 고딕"/>
              </a:rPr>
              <a:t>생성형 AI(ChatGPT) 활용을 통한 지역 역량강화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BI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00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15184</TotalTime>
  <Words>44</Words>
  <Application>Microsoft Office PowerPoint</Application>
  <PresentationFormat>A4 용지(210x297mm)</PresentationFormat>
  <Paragraphs>19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KoPubWorld돋움체 Bold</vt:lpstr>
      <vt:lpstr>맑은 고딕</vt:lpstr>
      <vt:lpstr>Arial</vt:lpstr>
      <vt:lpstr>Calibri</vt:lpstr>
      <vt:lpstr>LBI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Jun</cp:lastModifiedBy>
  <cp:revision>331</cp:revision>
  <cp:lastPrinted>2021-12-14T07:21:09Z</cp:lastPrinted>
  <dcterms:created xsi:type="dcterms:W3CDTF">2021-04-21T01:07:27Z</dcterms:created>
  <dcterms:modified xsi:type="dcterms:W3CDTF">2026-04-03T02:52:47Z</dcterms:modified>
</cp:coreProperties>
</file>